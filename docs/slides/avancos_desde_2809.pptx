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Média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98A96"/>
              </a:solidFill>
            </c:spPr>
            <c:extLst>
              <c:ext xmlns:c16="http://schemas.microsoft.com/office/drawing/2014/chart" uri="{C3380CC4-5D6E-409C-BE32-E72D297353CC}">
                <c16:uniqueId val="{00000001-2DF6-4C04-96FD-237A6C0063A6}"/>
              </c:ext>
            </c:extLst>
          </c:dPt>
          <c:dPt>
            <c:idx val="1"/>
            <c:invertIfNegative val="1"/>
            <c:bubble3D val="0"/>
            <c:spPr>
              <a:solidFill>
                <a:srgbClr val="9E5A68"/>
              </a:solidFill>
            </c:spPr>
            <c:extLst>
              <c:ext xmlns:c16="http://schemas.microsoft.com/office/drawing/2014/chart" uri="{C3380CC4-5D6E-409C-BE32-E72D297353CC}">
                <c16:uniqueId val="{00000003-2DF6-4C04-96FD-237A6C0063A6}"/>
              </c:ext>
            </c:extLst>
          </c:dPt>
          <c:dPt>
            <c:idx val="2"/>
            <c:invertIfNegative val="1"/>
            <c:bubble3D val="0"/>
            <c:spPr>
              <a:solidFill>
                <a:srgbClr val="C98A96"/>
              </a:solidFill>
            </c:spPr>
            <c:extLst>
              <c:ext xmlns:c16="http://schemas.microsoft.com/office/drawing/2014/chart" uri="{C3380CC4-5D6E-409C-BE32-E72D297353CC}">
                <c16:uniqueId val="{00000005-2DF6-4C04-96FD-237A6C0063A6}"/>
              </c:ext>
            </c:extLst>
          </c:dPt>
          <c:dPt>
            <c:idx val="3"/>
            <c:invertIfNegative val="1"/>
            <c:bubble3D val="0"/>
            <c:spPr>
              <a:solidFill>
                <a:srgbClr val="C98A96"/>
              </a:solidFill>
            </c:spPr>
            <c:extLst>
              <c:ext xmlns:c16="http://schemas.microsoft.com/office/drawing/2014/chart" uri="{C3380CC4-5D6E-409C-BE32-E72D297353CC}">
                <c16:uniqueId val="{00000007-2DF6-4C04-96FD-237A6C0063A6}"/>
              </c:ext>
            </c:extLst>
          </c:dPt>
          <c:dPt>
            <c:idx val="4"/>
            <c:invertIfNegative val="1"/>
            <c:bubble3D val="0"/>
            <c:spPr>
              <a:solidFill>
                <a:srgbClr val="7B2032"/>
              </a:solidFill>
            </c:spPr>
            <c:extLst>
              <c:ext xmlns:c16="http://schemas.microsoft.com/office/drawing/2014/chart" uri="{C3380CC4-5D6E-409C-BE32-E72D297353CC}">
                <c16:uniqueId val="{00000009-2DF6-4C04-96FD-237A6C0063A6}"/>
              </c:ext>
            </c:extLst>
          </c:dPt>
          <c:dPt>
            <c:idx val="5"/>
            <c:invertIfNegative val="1"/>
            <c:bubble3D val="0"/>
            <c:spPr>
              <a:solidFill>
                <a:srgbClr val="C98A96"/>
              </a:solidFill>
            </c:spPr>
            <c:extLst>
              <c:ext xmlns:c16="http://schemas.microsoft.com/office/drawing/2014/chart" uri="{C3380CC4-5D6E-409C-BE32-E72D297353CC}">
                <c16:uniqueId val="{0000000A-DD10-47D3-8058-97CFC356BF7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E3 · 200 r</c:v>
                </c:pt>
                <c:pt idx="1">
                  <c:v>E3 · 400 r</c:v>
                </c:pt>
                <c:pt idx="2">
                  <c:v>E3 local-only</c:v>
                </c:pt>
                <c:pt idx="3">
                  <c:v>E6 decoder federado</c:v>
                </c:pt>
                <c:pt idx="4">
                  <c:v>E7 ResNet-34</c:v>
                </c:pt>
                <c:pt idx="5">
                  <c:v>E4 resolução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0.61299999999999999</c:v>
                </c:pt>
                <c:pt idx="1">
                  <c:v>0.626</c:v>
                </c:pt>
                <c:pt idx="2">
                  <c:v>0.622</c:v>
                </c:pt>
                <c:pt idx="3">
                  <c:v>0.64200000000000002</c:v>
                </c:pt>
                <c:pt idx="4">
                  <c:v>0.7</c:v>
                </c:pt>
                <c:pt idx="5">
                  <c:v>0.629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F6-4C04-96FD-237A6C0063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>
          <c:spPr>
            <a:ln>
              <a:solidFill>
                <a:srgbClr val="E6D6D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300">
          <a:solidFill>
            <a:srgbClr val="1E121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4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Visão geral organizada pelas seis atividades do quadro. Concluídas: adicionar dois datasets e medir a transferência negativa. Em revisão: arquitetura (decoder federado e ResNet-34 pré-treinado), ablação da loss e ablação do pré-processamento. A fazer: escrita do paper 1. Médias de teste das 8 células (Dice positivo na segmentação, balanced accuracy na classificação), seed 1993: base E3 0,613; E6 0,642; E7 0,700; E4 0,629. Os runs novos usaram 400 rodadas, contra 200 da base.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Ordem de execução do plano: E0, E1, E2, E5, E3 e depois E4 em paralelo com E6, seguida da E7. A B0 foi incluída a pedido em 15/10, antes de seguir. Os PRs #6 (Dice+BCE) e #7 (transferência negativa) entraram em 28/09 e 04/10; E0 a E3 foram mescladas na main até o PR #12. E4, E6 e E7 vivem nas branches exp/preprocessing-ablation, exp/wider-sharing e exp/transfer-learning, ainda não mescladas.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 e ISIC já estavam no estudo; TCGA-LGG e SIIM-ACR entraram em 28 e 29/09, com scripts próprios de pré-processamento. No TCGA e no SIIM a classe é derivada da máscara (tumor ou pneumotórax se a máscara não é vazia). O TCGA divide por paciente (stratified_group); no SIIM a anonimização deu um PatientID por DICOM, então não há agrupamento possível. Clientes por célula na E3: BUSI 2, TCGA 2, SIIM 4, ISIC seg 4 e ISIC cls 4. BUSI, TCGA e SIIM usam clientes multitarefa; o ISIC usa um cliente por tarefa porque os conjuntos de seg e cls são disjuntos.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E0: com 16 clientes, o cosseno entre deltas do trunk dava cerca de zero em todos os 120 pares. A E0.1 mostrou que a métrica é válida e que a ortogonalidade vinha da inicialização por cliente dos stems e cabeças (hipótese H3). Com seed por dataset, o cosseno intra-dataset sobe para 0,39 a 0,57 no início. Também quantificou o ruído de GPU entre runs: até cerca de 0,05 no BUSI e 0,01 nas outras bases. B0: a seg do SIIM chegou a 0,237 de Dice na época 14 e depois desaprendeu; isso levou ao Batch Dice da E3. E1: suíte de 197 testes na época, não-regressão bit a bit em CPU. E2: src/monitor, servidor da biblioteca padrão; 79 entradas listadas em 2,4 s. E5: docs/DECISION_SOURCES.md e docs/references.bib; 10 decisões verificadas, 5 adaptações, 6 próprias, 2 divergentes, 2 sem fonte. Atividade 2: a transferência negativa é medida pela razão de cancelamento das atualizações do tronco (relatório negative_transfer em todo run federado) e pelo conflito entre clientes (E0, métodos M1 e M2).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Seed 1993. A coluna E3 fed é o braço com seed por dataset, 200 rodadas; a E6 roda 400. A diferença mistura orçamento e intervenção, porque não existe controle de 400 rodadas. O mecanismo shared_modules é configurável: sem a chave, o compartilhamento e o hash de estudo continuam os de sempre. A lista ampla tem 17 módulos (encoder2–5, bottleneck, decoder1–5, upsample1–5, process_encoder_5 e process_decoder_5), 32 chaves e 64,07% dos valores. Durante a implementação foi corrigido o M1, que quebrava em silêncio nos clientes single_task do ISIC com o conjunto amplo. Ganhos maiores em BUSI cls e TCGA seg; quedas em ISIC seg e SIIM seg. A suspeita registrada é a diluição do ISIC no decoder compartilhado.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Seed 1993, 400 rodadas, comparado com a E6 como pede o plano. Arquitetura MTResNet34UNet: 202 tensores e 23,9 M de valores viajam no compartilhamento amplo; ficam pessoais encoder1, output1–4 e classifier. A BatchNorm do encoder é FrozenBatchNorm: estatísticas, escala e deslocamento congelados, então os clientes não divergem nela. Ganhos em 6 das 8 células, com o maior na classificação do ISIC (+0,185). O TCGA, que é ressonância de 3 canais, cai nas duas tarefas; uma hipótese registrada é a normalização do ImageNet aplicada a canais de RM, e outra é que o stem pessoal agora só alimenta o skip do decoder1. Ressalva: E7 contra E6 muda arquitetura e pré-treino ao mesmo tempo; separar os dois exige um braço ResNet-34 sem pré-treino.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A: 3 variantes de loss de segmentação (batch_dice, dice_heavy, focal_dice) nos 4 baselines centralizados, 12 runs, cerca de 3 horas de GPU, em 17/10. Seleção feita na validação; o teste não foi lido. O 0,000 de falso positivo do controle no SIIM vinha de não prever nada. BUSI e ISIC mudam dentro do ruído (±0,05 e ±0,01). Decisão: DiceBCE 0,5/0,5 com loss.dice_batch: true, que vai para o manifest da Fase B. Uma seed só, baseline centralizado; o efeito federado é medido na Fase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Média de 3 seeds (1993 a 1995), 200 rodadas, holdout único; leitura descritiva, sem p-valores. Métrica primária: Dice positivo na seg e balanced accuracy na cls. A lacuna é a média simples dos Δ pareados das 8 células contra o local-only. Mecanismo: com seed por dataset, o cosseno M1 entre pares intra-dataset com as mesmas tarefas sobe de 0,002 a 0,003 para 0,098; o cancelamento fica abaixo do ortogonal no começo do treino. Os braços de loss não mudam a geometria. λ 1:1 troca seg por cls no SIIM e tem a pior média; agregação 1:1 não muda nenhuma célula; Kendall não melhora nenhuma. O diagnóstico D15 disparou nos 18 runs: o teto de 200 rodadas limitava todos os braços, e por isso E6 e E7 usam 400 rodadas. Decisão: personalized_init_seed: dataset virou o padrão do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Atividade 5, ablação do pré-processamento (E4): TCGA-LGG e SIIM-ACR a 256 px, BUSI e ISIC a 128 px, 400 rodadas, seed 1993, mesmas divisões da E3 (master novo conferido como equivalente id a id). Teste final contra a base E3 com seed por dataset: média 0,629 contra 0,613. Ganhos maiores na classificação do SIIM (+0,101) e do ISIC (+0,049); perda na segmentação do SIIM (−0,050), apesar da validação ter subido (0,21 para 0,25 nas rodadas 191–200). O Dice a 256 px é medido sobre outra rasterização da máscara, então não é estritamente comparável com o de 128 px. Orçamento também dobrado (400 contra 200 rodadas).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número que resume as três semanas. Na E3, nenhum braço federado superava o local-only. Com o decoder federado (E6) e depois o encoder pré-treinado (E7), a média dos braços federados passa a do local-only da E3. Mas a comparação tem duas confusões: os runs novos têm o dobro de rodadas, e a E7 muda arquitetura e pré-treino juntos. Não há controle local-only de 400 rodadas nem segunda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Todos os números são de teste, seed 1993, média por base e tarefa. As colunas E3 são o braço federado com seed por dataset e o local-only, na mesma seed; o registro da E3 no plano usa a média de 3 seeds, por isso os valores diferem um pouco do slide da Fase B. A E7 tem o maior valor em 6 linhas; a E6 vence nas duas células do TCGA. A seg do SIIM continua baixa em todos os braços, em torno de 0,2. A E4 não está aqui porque ainda não tem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Escala começando em zero para não exagerar as diferenças. Média simples das 8 células (4 bases × 2 tarefas), com Dice positivo na segmentação e balanced accuracy na classificação. Do federado da E3 para a E7 a média sobe 0,087; do local-only da E3 para a E7, 0,078. Lembrar que os dois runs novos têm 400 rodadas e que não existe controle de 400 rodadas.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Estas ressalvas valem para todos os slides de resultados. O plano registra o ruído de GPU entre runs na E0 (até cerca de 0,05 no BUSI e 0,01 nas outras bases); a regra da E3 só contava um efeito acima desse ruído e do desvio entre seeds. Para separar orçamento de intervenção falta rodar o controle e o local-only com 400 rodadas. Para separar arquitetura de pré-treino falta um braço ResNet-34 sem pesos do ImageNet. No TCGA e no SIIM da E4, a máscara de referência a 256 px é outra rasterização, então o Dice não é diretamente comparável ao de 128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Pendências registradas no plano (E7.9 e herdadas da E6): (a) estatísticas congeladas com γ e β treináveis e compartilhados; (b) FedBN, com BN pessoal por cliente; LR discriminativo entre encoder pré-treinado e decoder; entrada de 224 px, a resolução do ImageNet; estatísticas do ImageNet aplicadas aos canais de RM do TCGA; o stem pessoal que agora só alimenta o skip do decoder1; a diluição do ISIC no decoder e nos módulos process; a falta de controle a 400 rodadas; e a replicação multi-seed da E4 (E4.8). Abertos desde a E5: Div-1 (deep supervision) e Div-2 (Focal com pesos de classe). Também falta mesclar E4, E6 e E7 na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8A96"/>
                </a:solidFill>
                <a:latin typeface="Calibri"/>
              </a:rPr>
              <a:t>FEDPER MULTITAREFA · RELATÓRIO DE PROGRESSO · 28/09 A 19/10/2026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000" b="1" i="0">
                <a:solidFill>
                  <a:srgbClr val="FFF7F1"/>
                </a:solidFill>
                <a:latin typeface="Cambria"/>
              </a:rPr>
              <a:t>Seis atividades desde 28/09</a:t>
            </a:r>
            <a:endParaRPr sz="4000" b="1" i="0">
              <a:solidFill>
                <a:srgbClr val="FFF7F1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 b="0" i="0">
                <a:solidFill>
                  <a:srgbClr val="F3E6E1"/>
                </a:solidFill>
                <a:latin typeface="Calibri"/>
              </a:rPr>
              <a:t>Um treino federado de segmentação e classificação de imagens médicas em quatro bases. Duas atividades concluídas, três em revisão e uma a fazer.</a:t>
            </a:r>
            <a:endParaRPr sz="1600" b="0" i="0">
              <a:solidFill>
                <a:srgbClr val="F3E6E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>
                <a:solidFill>
                  <a:srgbClr val="C98A96"/>
                </a:solidFill>
                <a:latin typeface="Calibri"/>
              </a:rPr>
              <a:t>Resultados de uma seed (1993), em leitura descritiva. Base: E3 com seed por dataset, 0,613 com 200 rodadas e 0,626 com 400.</a:t>
            </a:r>
            <a:endParaRPr sz="1200" b="0" i="0">
              <a:solidFill>
                <a:srgbClr val="C98A96"/>
              </a:solidFill>
              <a:latin typeface="Calibri"/>
            </a:endParaRPr>
          </a:p>
        </p:txBody>
      </p:sp>
      <p:sp>
        <p:nvSpPr>
          <p:cNvPr id="22" name="Activity card 1">
            <a:extLst>
              <a:ext uri="{FF2B5EF4-FFF2-40B4-BE49-F238E27FC236}">
                <a16:creationId xmlns:a16="http://schemas.microsoft.com/office/drawing/2014/main" id="{35D71891-07E2-7EF1-AEB8-8A51199383F3}"/>
              </a:ext>
            </a:extLst>
          </p:cNvPr>
          <p:cNvSpPr/>
          <p:nvPr/>
        </p:nvSpPr>
        <p:spPr>
          <a:xfrm>
            <a:off x="635000" y="2616200"/>
            <a:ext cx="3505200" cy="1625600"/>
          </a:xfrm>
          <a:prstGeom prst="roundRect">
            <a:avLst>
              <a:gd name="adj" fmla="val 7000"/>
            </a:avLst>
          </a:prstGeom>
          <a:solidFill>
            <a:srgbClr val="2B1A1F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D6DF15C-526E-B684-5ACD-A8E2CE2B4BC0}"/>
              </a:ext>
            </a:extLst>
          </p:cNvPr>
          <p:cNvSpPr txBox="1"/>
          <p:nvPr/>
        </p:nvSpPr>
        <p:spPr>
          <a:xfrm>
            <a:off x="838200" y="27813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C98A96"/>
                </a:solidFill>
                <a:latin typeface="Calibri" panose="020F0502020204030204" pitchFamily="34" charset="0"/>
              </a:rPr>
              <a:t>ATIVIDADE 1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30F50B4-8327-FED5-2859-268BD7AF07EA}"/>
              </a:ext>
            </a:extLst>
          </p:cNvPr>
          <p:cNvSpPr/>
          <p:nvPr/>
        </p:nvSpPr>
        <p:spPr>
          <a:xfrm>
            <a:off x="2895600" y="27559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C98A96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50" b="1">
                <a:solidFill>
                  <a:srgbClr val="1E1216"/>
                </a:solidFill>
                <a:latin typeface="Calibri" panose="020F0502020204030204" pitchFamily="34" charset="0"/>
              </a:rPr>
              <a:t>Concluída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6D687C5-1268-BA06-7387-8747B3087CD3}"/>
              </a:ext>
            </a:extLst>
          </p:cNvPr>
          <p:cNvSpPr txBox="1"/>
          <p:nvPr/>
        </p:nvSpPr>
        <p:spPr>
          <a:xfrm>
            <a:off x="838200" y="3098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FFF7F1"/>
                </a:solidFill>
                <a:latin typeface="Cambria" panose="02040503050406030204" pitchFamily="18" charset="0"/>
              </a:rPr>
              <a:t>Adicionar mais dois datasets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6933C4C-5C9F-7082-0F85-855EB9A0C226}"/>
              </a:ext>
            </a:extLst>
          </p:cNvPr>
          <p:cNvSpPr txBox="1"/>
          <p:nvPr/>
        </p:nvSpPr>
        <p:spPr>
          <a:xfrm>
            <a:off x="838200" y="34544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F3E6E1"/>
                </a:solidFill>
                <a:latin typeface="Calibri" panose="020F0502020204030204" pitchFamily="34" charset="0"/>
              </a:rPr>
              <a:t>TCGA-LGG (ressonância cerebral) e SIIM-ACR (raio-X de tórax) entram na federação: 4 bases, 16 clientes.</a:t>
            </a:r>
          </a:p>
        </p:txBody>
      </p:sp>
      <p:sp>
        <p:nvSpPr>
          <p:cNvPr id="27" name="Activity card 2">
            <a:extLst>
              <a:ext uri="{FF2B5EF4-FFF2-40B4-BE49-F238E27FC236}">
                <a16:creationId xmlns:a16="http://schemas.microsoft.com/office/drawing/2014/main" id="{D8FDEE2C-A6FB-189B-F7DF-A8312E64C9AD}"/>
              </a:ext>
            </a:extLst>
          </p:cNvPr>
          <p:cNvSpPr/>
          <p:nvPr/>
        </p:nvSpPr>
        <p:spPr>
          <a:xfrm>
            <a:off x="4324350" y="2616200"/>
            <a:ext cx="3505200" cy="1625600"/>
          </a:xfrm>
          <a:prstGeom prst="roundRect">
            <a:avLst>
              <a:gd name="adj" fmla="val 7000"/>
            </a:avLst>
          </a:prstGeom>
          <a:solidFill>
            <a:srgbClr val="2B1A1F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375A4A-742D-5FE7-80C4-E20BC420580F}"/>
              </a:ext>
            </a:extLst>
          </p:cNvPr>
          <p:cNvSpPr txBox="1"/>
          <p:nvPr/>
        </p:nvSpPr>
        <p:spPr>
          <a:xfrm>
            <a:off x="4527550" y="27813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C98A96"/>
                </a:solidFill>
                <a:latin typeface="Calibri" panose="020F0502020204030204" pitchFamily="34" charset="0"/>
              </a:rPr>
              <a:t>ATIVIDADE 2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43D93762-F32D-9F29-8EAF-5C13E32B9119}"/>
              </a:ext>
            </a:extLst>
          </p:cNvPr>
          <p:cNvSpPr/>
          <p:nvPr/>
        </p:nvSpPr>
        <p:spPr>
          <a:xfrm>
            <a:off x="6584950" y="27559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C98A96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50" b="1">
                <a:solidFill>
                  <a:srgbClr val="1E1216"/>
                </a:solidFill>
                <a:latin typeface="Calibri" panose="020F0502020204030204" pitchFamily="34" charset="0"/>
              </a:rPr>
              <a:t>Concluída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3098097-32B1-351C-6ECE-7666828EA7B4}"/>
              </a:ext>
            </a:extLst>
          </p:cNvPr>
          <p:cNvSpPr txBox="1"/>
          <p:nvPr/>
        </p:nvSpPr>
        <p:spPr>
          <a:xfrm>
            <a:off x="4527550" y="3098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FFF7F1"/>
                </a:solidFill>
                <a:latin typeface="Cambria" panose="02040503050406030204" pitchFamily="18" charset="0"/>
              </a:rPr>
              <a:t>Medir transferência negativa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32542E5-611D-AB64-0764-253891759FB3}"/>
              </a:ext>
            </a:extLst>
          </p:cNvPr>
          <p:cNvSpPr txBox="1"/>
          <p:nvPr/>
        </p:nvSpPr>
        <p:spPr>
          <a:xfrm>
            <a:off x="4527550" y="34544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F3E6E1"/>
                </a:solidFill>
                <a:latin typeface="Calibri" panose="020F0502020204030204" pitchFamily="34" charset="0"/>
              </a:rPr>
              <a:t>Cancelamento das atualizações do tronco e conflito entre clientes (M1, M2) medidos em todo run federado.</a:t>
            </a:r>
          </a:p>
        </p:txBody>
      </p:sp>
      <p:sp>
        <p:nvSpPr>
          <p:cNvPr id="32" name="Activity card 3">
            <a:extLst>
              <a:ext uri="{FF2B5EF4-FFF2-40B4-BE49-F238E27FC236}">
                <a16:creationId xmlns:a16="http://schemas.microsoft.com/office/drawing/2014/main" id="{743EA216-6D3F-D4C1-DCE1-BA5C55074561}"/>
              </a:ext>
            </a:extLst>
          </p:cNvPr>
          <p:cNvSpPr/>
          <p:nvPr/>
        </p:nvSpPr>
        <p:spPr>
          <a:xfrm>
            <a:off x="8013700" y="2616200"/>
            <a:ext cx="3505200" cy="1625600"/>
          </a:xfrm>
          <a:prstGeom prst="roundRect">
            <a:avLst>
              <a:gd name="adj" fmla="val 7000"/>
            </a:avLst>
          </a:prstGeom>
          <a:solidFill>
            <a:srgbClr val="2B1A1F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1503413-91BF-F271-06E9-8CBE0CFC45B2}"/>
              </a:ext>
            </a:extLst>
          </p:cNvPr>
          <p:cNvSpPr txBox="1"/>
          <p:nvPr/>
        </p:nvSpPr>
        <p:spPr>
          <a:xfrm>
            <a:off x="8216900" y="27813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C98A96"/>
                </a:solidFill>
                <a:latin typeface="Calibri" panose="020F0502020204030204" pitchFamily="34" charset="0"/>
              </a:rPr>
              <a:t>ATIVIDADE 3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3525629-1406-4300-CA63-7246BFBF860A}"/>
              </a:ext>
            </a:extLst>
          </p:cNvPr>
          <p:cNvSpPr/>
          <p:nvPr/>
        </p:nvSpPr>
        <p:spPr>
          <a:xfrm>
            <a:off x="10274300" y="27559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7B2032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50" b="1">
                <a:solidFill>
                  <a:srgbClr val="FFF7F1"/>
                </a:solidFill>
                <a:latin typeface="Calibri" panose="020F0502020204030204" pitchFamily="34" charset="0"/>
              </a:rPr>
              <a:t>Em revisão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B438464-FE77-7503-3E30-43B6AC75AC2F}"/>
              </a:ext>
            </a:extLst>
          </p:cNvPr>
          <p:cNvSpPr txBox="1"/>
          <p:nvPr/>
        </p:nvSpPr>
        <p:spPr>
          <a:xfrm>
            <a:off x="8216900" y="3098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FFF7F1"/>
                </a:solidFill>
                <a:latin typeface="Cambria" panose="02040503050406030204" pitchFamily="18" charset="0"/>
              </a:rPr>
              <a:t>Definir a arquitetura do modelo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CF16153-1602-1ACF-24ED-F28C9CE90DC7}"/>
              </a:ext>
            </a:extLst>
          </p:cNvPr>
          <p:cNvSpPr txBox="1"/>
          <p:nvPr/>
        </p:nvSpPr>
        <p:spPr>
          <a:xfrm>
            <a:off x="8216900" y="34544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F3E6E1"/>
                </a:solidFill>
                <a:latin typeface="Calibri" panose="020F0502020204030204" pitchFamily="34" charset="0"/>
              </a:rPr>
              <a:t>Decoder federado: média 0,642. Encoder ResNet-34 pré-treinado: 0,700. Base: 0,613.</a:t>
            </a:r>
          </a:p>
        </p:txBody>
      </p:sp>
      <p:sp>
        <p:nvSpPr>
          <p:cNvPr id="37" name="Activity card 4">
            <a:extLst>
              <a:ext uri="{FF2B5EF4-FFF2-40B4-BE49-F238E27FC236}">
                <a16:creationId xmlns:a16="http://schemas.microsoft.com/office/drawing/2014/main" id="{E0EE4093-CEEB-141A-55A6-5F026848EA0A}"/>
              </a:ext>
            </a:extLst>
          </p:cNvPr>
          <p:cNvSpPr/>
          <p:nvPr/>
        </p:nvSpPr>
        <p:spPr>
          <a:xfrm>
            <a:off x="635000" y="4394200"/>
            <a:ext cx="3505200" cy="1625600"/>
          </a:xfrm>
          <a:prstGeom prst="roundRect">
            <a:avLst>
              <a:gd name="adj" fmla="val 7000"/>
            </a:avLst>
          </a:prstGeom>
          <a:solidFill>
            <a:srgbClr val="2B1A1F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7DF834C-C21E-B60F-39D5-F2DC87AC7326}"/>
              </a:ext>
            </a:extLst>
          </p:cNvPr>
          <p:cNvSpPr txBox="1"/>
          <p:nvPr/>
        </p:nvSpPr>
        <p:spPr>
          <a:xfrm>
            <a:off x="838200" y="45593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C98A96"/>
                </a:solidFill>
                <a:latin typeface="Calibri" panose="020F0502020204030204" pitchFamily="34" charset="0"/>
              </a:rPr>
              <a:t>ATIVIDADE 4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1BC48CE-8CBA-C49A-00DC-CE0E9A102168}"/>
              </a:ext>
            </a:extLst>
          </p:cNvPr>
          <p:cNvSpPr/>
          <p:nvPr/>
        </p:nvSpPr>
        <p:spPr>
          <a:xfrm>
            <a:off x="2895600" y="45339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7B2032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50" b="1">
                <a:solidFill>
                  <a:srgbClr val="FFF7F1"/>
                </a:solidFill>
                <a:latin typeface="Calibri" panose="020F0502020204030204" pitchFamily="34" charset="0"/>
              </a:rPr>
              <a:t>Em revisão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FA1FCA1-8251-F4A6-1850-858866DCF1D3}"/>
              </a:ext>
            </a:extLst>
          </p:cNvPr>
          <p:cNvSpPr txBox="1"/>
          <p:nvPr/>
        </p:nvSpPr>
        <p:spPr>
          <a:xfrm>
            <a:off x="838200" y="4876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FFF7F1"/>
                </a:solidFill>
                <a:latin typeface="Cambria" panose="02040503050406030204" pitchFamily="18" charset="0"/>
              </a:rPr>
              <a:t>Ablação: loss fed multitarefa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51A9676-48EC-BEF5-3325-6C2798CACEFB}"/>
              </a:ext>
            </a:extLst>
          </p:cNvPr>
          <p:cNvSpPr txBox="1"/>
          <p:nvPr/>
        </p:nvSpPr>
        <p:spPr>
          <a:xfrm>
            <a:off x="838200" y="52324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F3E6E1"/>
                </a:solidFill>
                <a:latin typeface="Calibri" panose="020F0502020204030204" pitchFamily="34" charset="0"/>
              </a:rPr>
              <a:t>O Batch Dice destravou a seg do pneumotórax; a seed por dataset aproximou o federado do local.</a:t>
            </a:r>
          </a:p>
        </p:txBody>
      </p:sp>
      <p:sp>
        <p:nvSpPr>
          <p:cNvPr id="42" name="Activity card 5">
            <a:extLst>
              <a:ext uri="{FF2B5EF4-FFF2-40B4-BE49-F238E27FC236}">
                <a16:creationId xmlns:a16="http://schemas.microsoft.com/office/drawing/2014/main" id="{7E078CFF-2422-DD8B-515A-89F21DABA398}"/>
              </a:ext>
            </a:extLst>
          </p:cNvPr>
          <p:cNvSpPr/>
          <p:nvPr/>
        </p:nvSpPr>
        <p:spPr>
          <a:xfrm>
            <a:off x="4324350" y="4394200"/>
            <a:ext cx="3505200" cy="1625600"/>
          </a:xfrm>
          <a:prstGeom prst="roundRect">
            <a:avLst>
              <a:gd name="adj" fmla="val 7000"/>
            </a:avLst>
          </a:prstGeom>
          <a:solidFill>
            <a:srgbClr val="2B1A1F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1357727-9014-0AED-D2CC-CF746D089189}"/>
              </a:ext>
            </a:extLst>
          </p:cNvPr>
          <p:cNvSpPr txBox="1"/>
          <p:nvPr/>
        </p:nvSpPr>
        <p:spPr>
          <a:xfrm>
            <a:off x="4527550" y="45593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C98A96"/>
                </a:solidFill>
                <a:latin typeface="Calibri" panose="020F0502020204030204" pitchFamily="34" charset="0"/>
              </a:rPr>
              <a:t>ATIVIDADE 5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B2977C3-64E7-5B70-D0B9-2F89276057E0}"/>
              </a:ext>
            </a:extLst>
          </p:cNvPr>
          <p:cNvSpPr/>
          <p:nvPr/>
        </p:nvSpPr>
        <p:spPr>
          <a:xfrm>
            <a:off x="6584950" y="45339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7B2032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50" b="1">
                <a:solidFill>
                  <a:srgbClr val="FFF7F1"/>
                </a:solidFill>
                <a:latin typeface="Calibri" panose="020F0502020204030204" pitchFamily="34" charset="0"/>
              </a:rPr>
              <a:t>Em revisão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7F4E3AC-F977-12C1-8F32-7A487C5892F4}"/>
              </a:ext>
            </a:extLst>
          </p:cNvPr>
          <p:cNvSpPr txBox="1"/>
          <p:nvPr/>
        </p:nvSpPr>
        <p:spPr>
          <a:xfrm>
            <a:off x="4527550" y="4876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FFF7F1"/>
                </a:solidFill>
                <a:latin typeface="Cambria" panose="02040503050406030204" pitchFamily="18" charset="0"/>
              </a:rPr>
              <a:t>Ablação: pré-processamento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939E383-DB60-DB8B-EE5E-5D04D75D1194}"/>
              </a:ext>
            </a:extLst>
          </p:cNvPr>
          <p:cNvSpPr txBox="1"/>
          <p:nvPr/>
        </p:nvSpPr>
        <p:spPr>
          <a:xfrm>
            <a:off x="4527550" y="52324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F3E6E1"/>
                </a:solidFill>
                <a:latin typeface="Calibri" panose="020F0502020204030204" pitchFamily="34" charset="0"/>
              </a:rPr>
              <a:t>TCGA e SIIM a 256 px: média 0,629. Ganho na classificação, perda na seg do SIIM.</a:t>
            </a:r>
          </a:p>
        </p:txBody>
      </p:sp>
      <p:sp>
        <p:nvSpPr>
          <p:cNvPr id="47" name="Activity card 6">
            <a:extLst>
              <a:ext uri="{FF2B5EF4-FFF2-40B4-BE49-F238E27FC236}">
                <a16:creationId xmlns:a16="http://schemas.microsoft.com/office/drawing/2014/main" id="{8371B3E9-C117-2CB8-E36A-7DF9DEEC04F7}"/>
              </a:ext>
            </a:extLst>
          </p:cNvPr>
          <p:cNvSpPr/>
          <p:nvPr/>
        </p:nvSpPr>
        <p:spPr>
          <a:xfrm>
            <a:off x="8013700" y="4394200"/>
            <a:ext cx="3505200" cy="1625600"/>
          </a:xfrm>
          <a:prstGeom prst="roundRect">
            <a:avLst>
              <a:gd name="adj" fmla="val 7000"/>
            </a:avLst>
          </a:prstGeom>
          <a:solidFill>
            <a:srgbClr val="2B1A1F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0AA1154-F966-20BD-263F-803CE343E339}"/>
              </a:ext>
            </a:extLst>
          </p:cNvPr>
          <p:cNvSpPr txBox="1"/>
          <p:nvPr/>
        </p:nvSpPr>
        <p:spPr>
          <a:xfrm>
            <a:off x="8216900" y="45593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C98A96"/>
                </a:solidFill>
                <a:latin typeface="Calibri" panose="020F0502020204030204" pitchFamily="34" charset="0"/>
              </a:rPr>
              <a:t>ATIVIDADE 6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3644C3D6-E158-CFC3-12CD-1B569088F3E6}"/>
              </a:ext>
            </a:extLst>
          </p:cNvPr>
          <p:cNvSpPr/>
          <p:nvPr/>
        </p:nvSpPr>
        <p:spPr>
          <a:xfrm>
            <a:off x="10274300" y="45339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4A363B"/>
          </a:solidFill>
          <a:ln w="9525" cap="flat" cmpd="sng" algn="ctr">
            <a:noFill/>
            <a:prstDash val="solid"/>
          </a:ln>
          <a:effectLst/>
          <a:sp3d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50" b="1">
                <a:solidFill>
                  <a:srgbClr val="F3E6E1"/>
                </a:solidFill>
                <a:latin typeface="Calibri" panose="020F0502020204030204" pitchFamily="34" charset="0"/>
              </a:rPr>
              <a:t>A fazer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39C42153-B9E6-D9EA-1464-841B61F104B5}"/>
              </a:ext>
            </a:extLst>
          </p:cNvPr>
          <p:cNvSpPr txBox="1"/>
          <p:nvPr/>
        </p:nvSpPr>
        <p:spPr>
          <a:xfrm>
            <a:off x="8216900" y="4876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FFF7F1"/>
                </a:solidFill>
                <a:latin typeface="Cambria" panose="02040503050406030204" pitchFamily="18" charset="0"/>
              </a:rPr>
              <a:t>Escrita do paper 1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6C3B1109-9ACD-57C6-C397-807E5036E281}"/>
              </a:ext>
            </a:extLst>
          </p:cNvPr>
          <p:cNvSpPr txBox="1"/>
          <p:nvPr/>
        </p:nvSpPr>
        <p:spPr>
          <a:xfrm>
            <a:off x="8216900" y="52324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F3E6E1"/>
                </a:solidFill>
                <a:latin typeface="Calibri" panose="020F0502020204030204" pitchFamily="34" charset="0"/>
              </a:rPr>
              <a:t>Próxima etapa, a partir dos resultados das atividades 1 a 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2032"/>
                </a:solidFill>
                <a:latin typeface="Calibri"/>
              </a:rPr>
              <a:t>LINHA DO TEMPO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Três semanas, uma etapa de cada vez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788920"/>
            <a:ext cx="10515600" cy="0"/>
          </a:xfrm>
          <a:prstGeom prst="line">
            <a:avLst/>
          </a:prstGeom>
          <a:ln w="25400">
            <a:solidFill>
              <a:srgbClr val="C98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57400"/>
            <a:ext cx="167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B2032"/>
                </a:solidFill>
                <a:latin typeface="Calibri"/>
              </a:rPr>
              <a:t>28–29/09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688336"/>
            <a:ext cx="201168" cy="201168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63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216"/>
                </a:solidFill>
                <a:latin typeface="Cambria"/>
              </a:rPr>
              <a:t>Novas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584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TCGA-LGG e SIIM-ACR na federação; Dice+BCE com supervisão parcial; relatórios por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640" y="2057400"/>
            <a:ext cx="167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B2032"/>
                </a:solidFill>
                <a:latin typeface="Calibri"/>
              </a:rPr>
              <a:t>04/10</a:t>
            </a:r>
          </a:p>
        </p:txBody>
      </p:sp>
      <p:sp>
        <p:nvSpPr>
          <p:cNvPr id="10" name="Oval 9"/>
          <p:cNvSpPr/>
          <p:nvPr/>
        </p:nvSpPr>
        <p:spPr>
          <a:xfrm>
            <a:off x="2499360" y="2688336"/>
            <a:ext cx="201168" cy="201168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3640" y="3108960"/>
            <a:ext cx="163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216"/>
                </a:solidFill>
                <a:latin typeface="Cambria"/>
              </a:rPr>
              <a:t>Plano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640" y="3657600"/>
            <a:ext cx="1584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plano.md: uma branch e um registro por etapa.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2057400"/>
            <a:ext cx="167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B2032"/>
                </a:solidFill>
                <a:latin typeface="Calibri"/>
              </a:rPr>
              <a:t>08–15/10</a:t>
            </a:r>
          </a:p>
        </p:txBody>
      </p:sp>
      <p:sp>
        <p:nvSpPr>
          <p:cNvPr id="14" name="Oval 13"/>
          <p:cNvSpPr/>
          <p:nvPr/>
        </p:nvSpPr>
        <p:spPr>
          <a:xfrm>
            <a:off x="4312920" y="2688336"/>
            <a:ext cx="201168" cy="201168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7200" y="3108960"/>
            <a:ext cx="163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216"/>
                </a:solidFill>
                <a:latin typeface="Cambria"/>
              </a:rPr>
              <a:t>E0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200" y="3657600"/>
            <a:ext cx="1584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Verificação da métrica de conflito; métodos M1 e M2.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057400"/>
            <a:ext cx="167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B2032"/>
                </a:solidFill>
                <a:latin typeface="Calibri"/>
              </a:rPr>
              <a:t>15–16/10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2688336"/>
            <a:ext cx="201168" cy="201168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3108960"/>
            <a:ext cx="163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216"/>
                </a:solidFill>
                <a:latin typeface="Cambria"/>
              </a:rPr>
              <a:t>B0 · E1 · E2 · E5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657600"/>
            <a:ext cx="1584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Baselines, diagnóstico D1–D15, app de monitoramento, registro de fontes.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320" y="2057400"/>
            <a:ext cx="167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B2032"/>
                </a:solidFill>
                <a:latin typeface="Calibri"/>
              </a:rPr>
              <a:t>16–18/10</a:t>
            </a:r>
          </a:p>
        </p:txBody>
      </p:sp>
      <p:sp>
        <p:nvSpPr>
          <p:cNvPr id="22" name="Oval 21"/>
          <p:cNvSpPr/>
          <p:nvPr/>
        </p:nvSpPr>
        <p:spPr>
          <a:xfrm>
            <a:off x="7940040" y="2688336"/>
            <a:ext cx="201168" cy="201168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94320" y="3108960"/>
            <a:ext cx="163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216"/>
                </a:solidFill>
                <a:latin typeface="Cambria"/>
              </a:rPr>
              <a:t>E3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320" y="3657600"/>
            <a:ext cx="1584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Ablação da loss: Fase A (12 runs) e Fase B (18 runs, 3 seeds).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7880" y="2057400"/>
            <a:ext cx="167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B2032"/>
                </a:solidFill>
                <a:latin typeface="Calibri"/>
              </a:rPr>
              <a:t>18–19/10</a:t>
            </a:r>
          </a:p>
        </p:txBody>
      </p:sp>
      <p:sp>
        <p:nvSpPr>
          <p:cNvPr id="26" name="Oval 25"/>
          <p:cNvSpPr/>
          <p:nvPr/>
        </p:nvSpPr>
        <p:spPr>
          <a:xfrm>
            <a:off x="9753600" y="2688336"/>
            <a:ext cx="201168" cy="201168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07880" y="3108960"/>
            <a:ext cx="163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216"/>
                </a:solidFill>
                <a:latin typeface="Cambria"/>
              </a:rPr>
              <a:t>E6 · E7 · E4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7880" y="3657600"/>
            <a:ext cx="1584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Decoder federado, ResNet-34 pré-treinada, resolução por base (400 rodadas).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2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7B2032"/>
                </a:solidFill>
                <a:latin typeface="Calibri"/>
              </a:rPr>
              <a:t>ATIVIDADE 1 · ADICIONAR MAIS DOIS DATASETS · CONCLUÍDA</a:t>
            </a:r>
            <a:endParaRPr sz="1300" b="1" i="0">
              <a:solidFill>
                <a:srgbClr val="7B203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Quatro bases, quatro modalidades, um treino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B2032"/>
                </a:solidFill>
                <a:latin typeface="Calibri"/>
              </a:rPr>
              <a:t>ULTRASSOM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1216"/>
                </a:solidFill>
                <a:latin typeface="Cambria"/>
              </a:rPr>
              <a:t>BUSI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1216"/>
                </a:solidFill>
                <a:latin typeface="Calibri"/>
              </a:rPr>
              <a:t>Mama. 450 imagens curadas: 222 benignas, 164 malignas, 64 normais.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5559"/>
                </a:solidFill>
                <a:latin typeface="Calibri"/>
              </a:rPr>
              <a:t>1 canal · 3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455" y="182880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42055" y="2011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B2032"/>
                </a:solidFill>
                <a:latin typeface="Calibri"/>
              </a:rPr>
              <a:t>DERMATOSCOPIA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2055" y="23774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1216"/>
                </a:solidFill>
                <a:latin typeface="Cambria"/>
              </a:rPr>
              <a:t>ISIC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2055" y="306324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1216"/>
                </a:solidFill>
                <a:latin typeface="Calibri"/>
              </a:rPr>
              <a:t>Pele. 3.694 imagens com máscara e 11.720 com rótulo, em conjuntos disjuntos.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055" y="47548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5559"/>
                </a:solidFill>
                <a:latin typeface="Calibri"/>
              </a:rPr>
              <a:t>3 canais · 7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6830" y="182880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430" y="2011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B2032"/>
                </a:solidFill>
                <a:latin typeface="Calibri"/>
              </a:rPr>
              <a:t>RESSONÂNCIA  ·  NOVA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430" y="23774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1216"/>
                </a:solidFill>
                <a:latin typeface="Cambria"/>
              </a:rPr>
              <a:t>TCGA-LGG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430" y="306324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1216"/>
                </a:solidFill>
                <a:latin typeface="Calibri"/>
              </a:rPr>
              <a:t>Cérebro. 3.929 cortes de 110 pacientes; divisão agrupada por paciente.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430" y="47548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5559"/>
                </a:solidFill>
                <a:latin typeface="Calibri"/>
              </a:rPr>
              <a:t>3 canais · classe vem da máscara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0205" y="182880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8805" y="2011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B2032"/>
                </a:solidFill>
                <a:latin typeface="Calibri"/>
              </a:rPr>
              <a:t>RAIO-X  ·  NOVA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8805" y="23774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1216"/>
                </a:solidFill>
                <a:latin typeface="Cambria"/>
              </a:rPr>
              <a:t>SIIM-ACR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8805" y="306324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1216"/>
                </a:solidFill>
                <a:latin typeface="Calibri"/>
              </a:rPr>
              <a:t>Tórax. 12.044 imagens, 2.667 com pneumotórax; divisão por imagem.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8805" y="47548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5559"/>
                </a:solidFill>
                <a:latin typeface="Calibri"/>
              </a:rPr>
              <a:t>1 canal · classe vem da máscara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5559"/>
                </a:solidFill>
                <a:latin typeface="Calibri"/>
              </a:rPr>
              <a:t>16 clientes. Cada um treina o seu stem e as suas cabeças; o tronco é agregado entre todos (FedPer, agregação hierárquica por base).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3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7B2032"/>
                </a:solidFill>
                <a:latin typeface="Calibri"/>
              </a:rPr>
              <a:t>ATIVIDADE 2 · MEDIR TRANSFERÊNCIA NEGATIVA · CONCLUÍDA</a:t>
            </a:r>
            <a:endParaRPr sz="1300" b="1" i="0">
              <a:solidFill>
                <a:srgbClr val="7B203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400" b="1" i="0">
                <a:solidFill>
                  <a:srgbClr val="1E1216"/>
                </a:solidFill>
                <a:latin typeface="Cambria"/>
              </a:rPr>
              <a:t>Medir a transferência negativa e conferir o treino</a:t>
            </a:r>
            <a:endParaRPr sz="3400" b="1" i="0">
              <a:solidFill>
                <a:srgbClr val="1E1216"/>
              </a:solidFill>
              <a:latin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7F1"/>
                </a:solidFill>
                <a:latin typeface="Calibri"/>
              </a:rPr>
              <a:t>E0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2140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1216"/>
                </a:solidFill>
                <a:latin typeface="Cambria"/>
              </a:rPr>
              <a:t>Conflito de gradientes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5559"/>
                </a:solidFill>
                <a:latin typeface="Calibri"/>
              </a:rPr>
              <a:t>O cosseno ≈ 0 entre clientes vinha dos stems iniciados por cliente, não de defeito da métrica. Novos M1 e M2.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7F1"/>
                </a:solidFill>
                <a:latin typeface="Calibri"/>
              </a:rPr>
              <a:t>B0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12140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1216"/>
                </a:solidFill>
                <a:latin typeface="Cambria"/>
              </a:rPr>
              <a:t>Baselines não federados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5559"/>
                </a:solidFill>
                <a:latin typeface="Calibri"/>
              </a:rPr>
              <a:t>12 runs (seg, cls e multitarefa por base) no mesmo master. A seg do SIIM não era aprendida nem centralizada.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75319" y="2057400"/>
            <a:ext cx="640080" cy="640080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7F1"/>
                </a:solidFill>
                <a:latin typeface="Calibri"/>
              </a:rPr>
              <a:t>E1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12140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1216"/>
                </a:solidFill>
                <a:latin typeface="Cambria"/>
              </a:rPr>
              <a:t>Validação do treino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83464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5559"/>
                </a:solidFill>
                <a:latin typeface="Calibri"/>
              </a:rPr>
              <a:t>Diagnósticos D1–D15 e guarda de gradiente; +1,6% de custo na GPU; aplicado a 25 runs.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7F1"/>
                </a:solidFill>
                <a:latin typeface="Calibri"/>
              </a:rPr>
              <a:t>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36168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1216"/>
                </a:solidFill>
                <a:latin typeface="Cambria"/>
              </a:rPr>
              <a:t>App de monitoramento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5559"/>
                </a:solidFill>
                <a:latin typeface="Calibri"/>
              </a:rPr>
              <a:t>Página local só de leitura: runs, estudos e baselines, curvas ao vivo e avisos de comparabilidade.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0690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0" y="4297680"/>
            <a:ext cx="640080" cy="640080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7F1"/>
                </a:solidFill>
                <a:latin typeface="Calibri"/>
              </a:rPr>
              <a:t>E5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36168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1216"/>
                </a:solidFill>
                <a:latin typeface="Cambria"/>
              </a:rPr>
              <a:t>Registro de fontes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5559"/>
                </a:solidFill>
                <a:latin typeface="Calibri"/>
              </a:rPr>
              <a:t>26 decisões ligadas à fonte; 33 referências conferidas; divergências encaminhadas.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4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  <p:sp>
        <p:nvSpPr>
          <p:cNvPr id="31" name="Rounded Rectangle 23">
            <a:extLst>
              <a:ext uri="{FF2B5EF4-FFF2-40B4-BE49-F238E27FC236}">
                <a16:creationId xmlns:a16="http://schemas.microsoft.com/office/drawing/2014/main" id="{8F343121-44AB-541D-4511-649557B58D36}"/>
              </a:ext>
            </a:extLst>
          </p:cNvPr>
          <p:cNvSpPr/>
          <p:nvPr/>
        </p:nvSpPr>
        <p:spPr>
          <a:xfrm>
            <a:off x="8051800" y="40640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24">
            <a:extLst>
              <a:ext uri="{FF2B5EF4-FFF2-40B4-BE49-F238E27FC236}">
                <a16:creationId xmlns:a16="http://schemas.microsoft.com/office/drawing/2014/main" id="{B39013E0-13A2-96B3-9E29-C7C985D8534A}"/>
              </a:ext>
            </a:extLst>
          </p:cNvPr>
          <p:cNvSpPr/>
          <p:nvPr/>
        </p:nvSpPr>
        <p:spPr>
          <a:xfrm>
            <a:off x="8280400" y="4292600"/>
            <a:ext cx="640080" cy="640080"/>
          </a:xfrm>
          <a:prstGeom prst="ellipse">
            <a:avLst/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26">
            <a:extLst>
              <a:ext uri="{FF2B5EF4-FFF2-40B4-BE49-F238E27FC236}">
                <a16:creationId xmlns:a16="http://schemas.microsoft.com/office/drawing/2014/main" id="{4DA6B8AF-3219-EB2B-677B-5E751B8ECC00}"/>
              </a:ext>
            </a:extLst>
          </p:cNvPr>
          <p:cNvSpPr txBox="1"/>
          <p:nvPr/>
        </p:nvSpPr>
        <p:spPr>
          <a:xfrm>
            <a:off x="9057640" y="4361687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600" b="1" i="0">
                <a:solidFill>
                  <a:srgbClr val="1E1216"/>
                </a:solidFill>
                <a:latin typeface="Cambria"/>
              </a:rPr>
              <a:t>Cancelamento</a:t>
            </a:r>
            <a:endParaRPr sz="1600" b="1" i="0">
              <a:solidFill>
                <a:srgbClr val="1E1216"/>
              </a:solidFill>
              <a:latin typeface="Cambria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8813188F-F2AE-CE72-2D36-CDD79681B037}"/>
              </a:ext>
            </a:extLst>
          </p:cNvPr>
          <p:cNvSpPr txBox="1"/>
          <p:nvPr/>
        </p:nvSpPr>
        <p:spPr>
          <a:xfrm>
            <a:off x="8280400" y="4297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500" b="1" i="0">
                <a:solidFill>
                  <a:srgbClr val="FFF7F1"/>
                </a:solidFill>
                <a:latin typeface="Calibri"/>
              </a:rPr>
              <a:t>NT</a:t>
            </a:r>
            <a:endParaRPr sz="1500" b="1" i="0">
              <a:solidFill>
                <a:srgbClr val="FFF7F1"/>
              </a:solidFill>
              <a:latin typeface="Calibri"/>
            </a:endParaRPr>
          </a:p>
        </p:txBody>
      </p:sp>
      <p:sp>
        <p:nvSpPr>
          <p:cNvPr id="35" name="TextBox 27">
            <a:extLst>
              <a:ext uri="{FF2B5EF4-FFF2-40B4-BE49-F238E27FC236}">
                <a16:creationId xmlns:a16="http://schemas.microsoft.com/office/drawing/2014/main" id="{5A53EDE2-AE9E-AE19-9846-6AA0FBA0B39D}"/>
              </a:ext>
            </a:extLst>
          </p:cNvPr>
          <p:cNvSpPr txBox="1"/>
          <p:nvPr/>
        </p:nvSpPr>
        <p:spPr>
          <a:xfrm>
            <a:off x="8280400" y="507491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50" b="0" i="0">
                <a:solidFill>
                  <a:srgbClr val="6B5559"/>
                </a:solidFill>
                <a:latin typeface="Calibri"/>
              </a:rPr>
              <a:t>Quanto as atualizações dos clientes se anulam na média, intra e inter base, gravado em todo run federado (e só no tronco, quando mais é compartilhado).</a:t>
            </a:r>
            <a:endParaRPr sz="125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7B2032"/>
                </a:solidFill>
                <a:latin typeface="Calibri"/>
              </a:rPr>
              <a:t>ATIVIDADE 3 · ARQUITETURA · E6 COMPARTILHAMENTO AMPLIADO · EM REVISÃO</a:t>
            </a:r>
            <a:endParaRPr sz="1300" b="1" i="0">
              <a:solidFill>
                <a:srgbClr val="7B203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Federar também o decoder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77840" y="1783080"/>
          <a:ext cx="5943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Célula (teste)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E3 federado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E6 decoder federado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0,637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0,748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+0,111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+0,017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0,386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0,390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+0,004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0,826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−0,016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0,620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0,684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+0,065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0,221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0,180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−0,042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0,898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0,927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+0,029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0,655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0,722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+0,067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0,613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0,642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+0,029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Fração dos parâmetros agregada entre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1216"/>
                </a:solidFill>
                <a:latin typeface="Calibri"/>
              </a:rPr>
              <a:t>Tronco (E3)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4206240" cy="320040"/>
          </a:xfrm>
          <a:prstGeom prst="roundRect">
            <a:avLst>
              <a:gd name="adj" fmla="val 50000"/>
            </a:avLst>
          </a:prstGeom>
          <a:solidFill>
            <a:srgbClr val="F3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240840" cy="320040"/>
          </a:xfrm>
          <a:prstGeom prst="roundRect">
            <a:avLst>
              <a:gd name="adj" fmla="val 50000"/>
            </a:avLst>
          </a:prstGeom>
          <a:solidFill>
            <a:srgbClr val="C9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72360" y="262432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1216"/>
                </a:solidFill>
                <a:latin typeface="Calibri"/>
              </a:rPr>
              <a:t>29,5%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1216"/>
                </a:solidFill>
                <a:latin typeface="Calibri"/>
              </a:rPr>
              <a:t>Tronco + decoder (E6)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4206240" cy="320040"/>
          </a:xfrm>
          <a:prstGeom prst="roundRect">
            <a:avLst>
              <a:gd name="adj" fmla="val 50000"/>
            </a:avLst>
          </a:prstGeom>
          <a:solidFill>
            <a:srgbClr val="F3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2696199" cy="320040"/>
          </a:xfrm>
          <a:prstGeom prst="roundRect">
            <a:avLst>
              <a:gd name="adj" fmla="val 50000"/>
            </a:avLst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7719" y="353872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1216"/>
                </a:solidFill>
                <a:latin typeface="Calibri"/>
              </a:rPr>
              <a:t>64,1%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1216"/>
                </a:solidFill>
                <a:latin typeface="Calibri"/>
              </a:rPr>
              <a:t>Agora também são federados decoder1–5, upsample1–5 e os processadores da cabeça de classificação.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1216"/>
                </a:solidFill>
                <a:latin typeface="Calibri"/>
              </a:rPr>
              <a:t>Seguem pessoais: o stem (encoder1), as saídas de segmentação e o classificador.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5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E4C90E6-E0D0-725C-FD46-8C11C7A8A6F7}"/>
              </a:ext>
            </a:extLst>
          </p:cNvPr>
          <p:cNvSpPr txBox="1"/>
          <p:nvPr/>
        </p:nvSpPr>
        <p:spPr>
          <a:xfrm>
            <a:off x="5577840" y="5816600"/>
            <a:ext cx="5943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50">
                <a:solidFill>
                  <a:srgbClr val="6B5559"/>
                </a:solidFill>
                <a:latin typeface="Calibri" panose="020F0502020204030204" pitchFamily="34" charset="0"/>
              </a:rPr>
              <a:t>Contra o controle E3 de 400 rodadas (média 0,626): E6 +0,016.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7B2032"/>
                </a:solidFill>
                <a:latin typeface="Calibri"/>
              </a:rPr>
              <a:t>ATIVIDADE 3 · ARQUITETURA · E7 TRANSFER LEARNING · EM REVISÃO</a:t>
            </a:r>
            <a:endParaRPr sz="1300" b="1" i="0">
              <a:solidFill>
                <a:srgbClr val="7B203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Encoder ResNet-34 pré-treinado no ImageNet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77840" y="1783080"/>
          <a:ext cx="5943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Célula (teste)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E6 decoder federado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E7 ResNet-34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0,748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0,859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+0,111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0,748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+0,089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0,390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0,575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+0,186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0,826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+0,045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0,684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0,774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+0,090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0,180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0,221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B2032"/>
                          </a:solidFill>
                          <a:latin typeface="Calibri"/>
                        </a:rPr>
                        <a:t>+0,042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0,927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0,895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−0,033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0,722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0,656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−0,066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0,642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0,700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+0,058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7830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1216"/>
                </a:solidFill>
                <a:latin typeface="Calibri"/>
              </a:rPr>
              <a:t>Encoder do torchvision com pesos ImageNet, encaixado nos nomes de módulo do MTnnUNet. BatchNorm congelada, igual em todos os clientes.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371600" cy="118872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E1216"/>
                </a:solidFill>
                <a:latin typeface="Cambria"/>
              </a:rPr>
              <a:t>29,5%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5559"/>
                </a:solidFill>
                <a:latin typeface="Calibri"/>
              </a:rPr>
              <a:t>E3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3200400"/>
            <a:ext cx="1371600" cy="118872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33375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E1216"/>
                </a:solidFill>
                <a:latin typeface="Cambria"/>
              </a:rPr>
              <a:t>64,1%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9319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5559"/>
                </a:solidFill>
                <a:latin typeface="Calibri"/>
              </a:rPr>
              <a:t>E6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200400"/>
            <a:ext cx="1371600" cy="1188720"/>
          </a:xfrm>
          <a:prstGeom prst="roundRect">
            <a:avLst>
              <a:gd name="adj" fmla="val 6000"/>
            </a:avLst>
          </a:prstGeom>
          <a:solidFill>
            <a:srgbClr val="7B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33375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7F1"/>
                </a:solidFill>
                <a:latin typeface="Cambria"/>
              </a:rPr>
              <a:t>85,6%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9319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3E6E1"/>
                </a:solidFill>
                <a:latin typeface="Calibri"/>
              </a:rPr>
              <a:t>E7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5559"/>
                </a:solidFill>
                <a:latin typeface="Calibri"/>
              </a:rPr>
              <a:t>Fração dos parâmetros agregada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1216"/>
                </a:solidFill>
                <a:latin typeface="Calibri"/>
              </a:rPr>
              <a:t>Modelo maior: 27,9 M de valores contra 15,8 M do MTnnUNet.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6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BE4FEE1-AB7C-F140-3CA2-33F5114E061B}"/>
              </a:ext>
            </a:extLst>
          </p:cNvPr>
          <p:cNvSpPr txBox="1"/>
          <p:nvPr/>
        </p:nvSpPr>
        <p:spPr>
          <a:xfrm>
            <a:off x="5577840" y="5874512"/>
            <a:ext cx="5943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50">
                <a:solidFill>
                  <a:srgbClr val="6B5559"/>
                </a:solidFill>
                <a:latin typeface="Calibri" panose="020F0502020204030204" pitchFamily="34" charset="0"/>
              </a:rPr>
              <a:t>Contra o controle E3 de 400 rodadas (média 0,626): E7 +0,074.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7B2032"/>
                </a:solidFill>
                <a:latin typeface="Calibri"/>
              </a:rPr>
              <a:t>ATIVIDADE 4 · ABLAÇÃO DA LOSS · FASE A · EM REVISÃO</a:t>
            </a:r>
            <a:endParaRPr sz="1300" b="1" i="0">
              <a:solidFill>
                <a:srgbClr val="7B203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Batch Dice destrava a segmentação do pneumotórax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Dice positivo de validação, baseline centralizado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945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7F1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7F1"/>
                          </a:solidFill>
                          <a:latin typeface="Calibri"/>
                        </a:rPr>
                        <a:t>Controle (B0)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7F1"/>
                          </a:solidFill>
                          <a:latin typeface="Calibri"/>
                        </a:rPr>
                        <a:t>Batch Dice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BUSI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0,637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0,635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ISIC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0,894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0,893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SIIM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0,003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B2032"/>
                          </a:solidFill>
                          <a:latin typeface="Calibri"/>
                        </a:rPr>
                        <a:t>0,262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TCGA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216"/>
                          </a:solidFill>
                          <a:latin typeface="Calibri"/>
                        </a:rPr>
                        <a:t>0,747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B2032"/>
                          </a:solidFill>
                          <a:latin typeface="Calibri"/>
                        </a:rPr>
                        <a:t>0,788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21031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7B2032"/>
                </a:solidFill>
                <a:latin typeface="Cambria"/>
              </a:rPr>
              <a:t>0,003 → 0,262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889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5559"/>
                </a:solidFill>
                <a:latin typeface="Calibri"/>
              </a:rPr>
              <a:t>Dice positivo de validação do SIIM: a seg do pneumotórax deixa de colapsar.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56616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1216"/>
                </a:solidFill>
                <a:latin typeface="Calibri"/>
              </a:rPr>
              <a:t>O colapso vinha do Dice por imagem numa base com ~78% de imagens vazias. Somar sobre o lote resolve.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1216"/>
                </a:solidFill>
                <a:latin typeface="Calibri"/>
              </a:rPr>
              <a:t>As outras variantes (mais peso no Dice, Focal+Dice) aprendem cedo e desaprendem.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1216"/>
                </a:solidFill>
                <a:latin typeface="Calibri"/>
              </a:rPr>
              <a:t>Custo: mais falso positivo em imagem vazia (SIIM 0,000 → 0,112; TCGA 0,018 → 0,079).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7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7B2032"/>
                </a:solidFill>
                <a:latin typeface="Calibri"/>
              </a:rPr>
              <a:t>ATIVIDADE 4 · ABLAÇÃO DA LOSS · FASE B · 6 BRAÇOS × 3 SEEDS · EM REVISÃO</a:t>
            </a:r>
            <a:endParaRPr sz="1300" b="1" i="0">
              <a:solidFill>
                <a:srgbClr val="7B203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Só a seed por dataset aproximou o federado do local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6583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Célula (teste)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Controle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Seed por dataset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Local-only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seg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0,611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0,628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0,660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cls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0,614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0,637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0,692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seg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0,845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0,849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0,853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cls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0,361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0,376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0,362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seg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0,195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0,209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0,219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cls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0,578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0,606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0,647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seg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0,683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0,685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0,695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cls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0,889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0,909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0,909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Distância p/ local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−0,033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−0,017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828800"/>
            <a:ext cx="3840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7B2032"/>
                </a:solidFill>
                <a:latin typeface="Calibri"/>
              </a:rPr>
              <a:t>Seed por dataset: </a:t>
            </a:r>
            <a:r>
              <a:rPr sz="1400" b="0" i="0">
                <a:solidFill>
                  <a:srgbClr val="1E1216"/>
                </a:solidFill>
                <a:latin typeface="Calibri"/>
              </a:rPr>
              <a:t>Δ positivo nas 8 células contra o controle; a distância para o local-only cai pela metade.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7B2032"/>
                </a:solidFill>
                <a:latin typeface="Calibri"/>
              </a:rPr>
              <a:t>SIIM seg: </a:t>
            </a:r>
            <a:r>
              <a:rPr sz="1400" b="0" i="0">
                <a:solidFill>
                  <a:srgbClr val="1E1216"/>
                </a:solidFill>
                <a:latin typeface="Calibri"/>
              </a:rPr>
              <a:t>colapso em 2 de 3 seeds no controle, em 0 de 3 com a seed por dataset.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7B2032"/>
                </a:solidFill>
                <a:latin typeface="Calibri"/>
              </a:rPr>
              <a:t>Rejeitados: </a:t>
            </a:r>
            <a:r>
              <a:rPr sz="1400" b="0" i="0">
                <a:solidFill>
                  <a:srgbClr val="1E1216"/>
                </a:solidFill>
                <a:latin typeface="Calibri"/>
              </a:rPr>
              <a:t>λ 1:1, agregação 1:1 e Kendall.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7B2032"/>
                </a:solidFill>
                <a:latin typeface="Calibri"/>
              </a:rPr>
              <a:t>Ainda assim: </a:t>
            </a:r>
            <a:r>
              <a:rPr sz="1400" b="0" i="0">
                <a:solidFill>
                  <a:srgbClr val="1E1216"/>
                </a:solidFill>
                <a:latin typeface="Calibri"/>
              </a:rPr>
              <a:t>nenhum braço federado supera o local-only em célula alguma.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8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7B2032"/>
                </a:solidFill>
                <a:latin typeface="Calibri"/>
              </a:rPr>
              <a:t>ATIVIDADE 5 · ABLAÇÃO DO PRÉ-PROCESSAMENTO · 400 RODADAS · EM REVISÃO</a:t>
            </a:r>
            <a:endParaRPr sz="1300" b="1" i="0">
              <a:solidFill>
                <a:srgbClr val="7B203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Ressonância e raio-X a 256 px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4572000" cy="419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pt-BR" sz="1400" b="0" i="0">
                <a:solidFill>
                  <a:srgbClr val="1E1216"/>
                </a:solidFill>
                <a:latin typeface="Calibri"/>
              </a:rPr>
              <a:t>TCGA-LGG e SIIM-ACR passam a 256 px; BUSI e ISIC ficam em 128 px. A rede é convolucional e os stems são pessoais, então resoluções diferentes convivem no mesmo treino.</a:t>
            </a:r>
          </a:p>
          <a:p>
            <a:pPr algn="l">
              <a:spcAft>
                <a:spcPts val="1000"/>
              </a:spcAft>
            </a:pPr>
            <a:r>
              <a:rPr lang="pt-BR" sz="1400" b="0" i="0">
                <a:solidFill>
                  <a:srgbClr val="1E1216"/>
                </a:solidFill>
                <a:latin typeface="Calibri"/>
              </a:rPr>
              <a:t>A classificação melhora no SIIM (+0,101) e no ISIC (+0,049); a seg do SIIM cai no teste (−0,050), embora tenha subido na validação.</a:t>
            </a:r>
          </a:p>
          <a:p>
            <a:pPr algn="l">
              <a:spcAft>
                <a:spcPts val="1000"/>
              </a:spcAft>
            </a:pPr>
            <a:r>
              <a:rPr lang="pt-BR" sz="1400" b="0" i="0">
                <a:solidFill>
                  <a:srgbClr val="1E1216"/>
                </a:solidFill>
                <a:latin typeface="Calibri"/>
              </a:rPr>
              <a:t>O Dice a 256 px é medido sobre outra rasterização da máscara: a comparação com 128 px é aproximada.</a:t>
            </a:r>
            <a:endParaRPr sz="1400" b="0" i="0">
              <a:solidFill>
                <a:srgbClr val="1E121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9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9A62C770-B477-20D6-9581-CA11C49ED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92166"/>
              </p:ext>
            </p:extLst>
          </p:nvPr>
        </p:nvGraphicFramePr>
        <p:xfrm>
          <a:off x="5575300" y="1778000"/>
          <a:ext cx="5943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Célula (teste)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FFF7F1"/>
                          </a:solidFill>
                          <a:latin typeface="Calibri"/>
                        </a:rPr>
                        <a:t>E3 federado</a:t>
                      </a:r>
                      <a:endParaRPr sz="1300" b="1">
                        <a:solidFill>
                          <a:srgbClr val="FFF7F1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FFF7F1"/>
                          </a:solidFill>
                          <a:latin typeface="Calibri"/>
                        </a:rPr>
                        <a:t>E4 resolução</a:t>
                      </a:r>
                      <a:endParaRPr sz="1300" b="1">
                        <a:solidFill>
                          <a:srgbClr val="FFF7F1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7F1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0,637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0,646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7B2032"/>
                          </a:solidFill>
                          <a:latin typeface="Calibri"/>
                        </a:rPr>
                        <a:t>+0,009</a:t>
                      </a:r>
                      <a:endParaRPr sz="1300" b="1">
                        <a:solidFill>
                          <a:srgbClr val="7B203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BUSI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0,632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−0,010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0,386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0,435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7B2032"/>
                          </a:solidFill>
                          <a:latin typeface="Calibri"/>
                        </a:rPr>
                        <a:t>+0,049</a:t>
                      </a:r>
                      <a:endParaRPr sz="1300" b="1">
                        <a:solidFill>
                          <a:srgbClr val="7B203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ISIC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0,850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7B2032"/>
                          </a:solidFill>
                          <a:latin typeface="Calibri"/>
                        </a:rPr>
                        <a:t>+0,008</a:t>
                      </a:r>
                      <a:endParaRPr sz="1300" b="1">
                        <a:solidFill>
                          <a:srgbClr val="7B203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0,620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0,721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7B2032"/>
                          </a:solidFill>
                          <a:latin typeface="Calibri"/>
                        </a:rPr>
                        <a:t>+0,101</a:t>
                      </a:r>
                      <a:endParaRPr sz="1300" b="1">
                        <a:solidFill>
                          <a:srgbClr val="7B203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SIIM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0,221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0,171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−0,050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0,898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0,906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7B2032"/>
                          </a:solidFill>
                          <a:latin typeface="Calibri"/>
                        </a:rPr>
                        <a:t>+0,008</a:t>
                      </a:r>
                      <a:endParaRPr sz="1300" b="1">
                        <a:solidFill>
                          <a:srgbClr val="7B203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TCGA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1216"/>
                          </a:solidFill>
                          <a:latin typeface="Calibri"/>
                        </a:rPr>
                        <a:t>0,655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>
                          <a:solidFill>
                            <a:srgbClr val="1E1216"/>
                          </a:solidFill>
                          <a:latin typeface="Calibri"/>
                        </a:rPr>
                        <a:t>0,672</a:t>
                      </a:r>
                      <a:endParaRPr sz="130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7B2032"/>
                          </a:solidFill>
                          <a:latin typeface="Calibri"/>
                        </a:rPr>
                        <a:t>+0,017</a:t>
                      </a:r>
                      <a:endParaRPr sz="1300" b="1">
                        <a:solidFill>
                          <a:srgbClr val="7B203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1216"/>
                          </a:solidFill>
                          <a:latin typeface="Calibri"/>
                        </a:rPr>
                        <a:t>0,613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1E1216"/>
                          </a:solidFill>
                          <a:latin typeface="Calibri"/>
                        </a:rPr>
                        <a:t>0,629</a:t>
                      </a:r>
                      <a:endParaRPr sz="1300" b="1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1E1216"/>
                          </a:solidFill>
                          <a:latin typeface="Calibri"/>
                        </a:rPr>
                        <a:t>+0,017</a:t>
                      </a:r>
                      <a:endParaRPr sz="1300" b="1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5AFEAD77-820B-EA25-2FF3-AB754268C541}"/>
              </a:ext>
            </a:extLst>
          </p:cNvPr>
          <p:cNvSpPr txBox="1"/>
          <p:nvPr/>
        </p:nvSpPr>
        <p:spPr>
          <a:xfrm>
            <a:off x="5575300" y="5811520"/>
            <a:ext cx="5943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50">
                <a:solidFill>
                  <a:srgbClr val="6B5559"/>
                </a:solidFill>
                <a:latin typeface="Calibri" panose="020F0502020204030204" pitchFamily="34" charset="0"/>
              </a:rPr>
              <a:t>Contra o controle E3 de 400 rodadas (média 0,626): E4 +0,003.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3E6E1"/>
                </a:solidFill>
                <a:latin typeface="Calibri"/>
              </a:rPr>
              <a:t>MELHOR RESULTADO ATÉ 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>
                <a:solidFill>
                  <a:srgbClr val="FFF7F1"/>
                </a:solidFill>
                <a:latin typeface="Cambria"/>
              </a:rPr>
              <a:t>0,700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7F1"/>
                </a:solidFill>
                <a:latin typeface="Calibri"/>
              </a:rPr>
              <a:t>Média das 8 células no teste — E7 ResNet-34.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4483100"/>
            <a:ext cx="20955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7F1"/>
                </a:solidFill>
                <a:latin typeface="Cambria"/>
              </a:rPr>
              <a:t>0,613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5080000"/>
            <a:ext cx="20955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>
                <a:solidFill>
                  <a:srgbClr val="F3E6E1"/>
                </a:solidFill>
                <a:latin typeface="Calibri"/>
              </a:rPr>
              <a:t>E3 federado · 200 r</a:t>
            </a:r>
            <a:endParaRPr sz="1300" b="0" i="0">
              <a:solidFill>
                <a:srgbClr val="F3E6E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4483100"/>
            <a:ext cx="20955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7F1"/>
                </a:solidFill>
                <a:latin typeface="Cambria"/>
              </a:rPr>
              <a:t>0,622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0800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3E6E1"/>
                </a:solidFill>
                <a:latin typeface="Calibri"/>
              </a:rPr>
              <a:t>E3 local-only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6300" y="4483100"/>
            <a:ext cx="20955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7F1"/>
                </a:solidFill>
                <a:latin typeface="Cambria"/>
              </a:rPr>
              <a:t>0,642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6300" y="50800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3E6E1"/>
                </a:solidFill>
                <a:latin typeface="Calibri"/>
              </a:rPr>
              <a:t>E6 decoder federado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>
                <a:solidFill>
                  <a:srgbClr val="F3E6E1"/>
                </a:solidFill>
                <a:latin typeface="Calibri"/>
              </a:rPr>
              <a:t>Uma seed. Com o mesmo orçamento de 400 rodadas, a E7 fica 0,074 acima do controle E3. Leitura descritiva.</a:t>
            </a:r>
            <a:endParaRPr sz="1200" b="0" i="0">
              <a:solidFill>
                <a:srgbClr val="F3E6E1"/>
              </a:solidFill>
              <a:latin typeface="Calibri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D332E60-26A6-6935-C84C-0745AC69112D}"/>
              </a:ext>
            </a:extLst>
          </p:cNvPr>
          <p:cNvSpPr txBox="1"/>
          <p:nvPr/>
        </p:nvSpPr>
        <p:spPr>
          <a:xfrm>
            <a:off x="9423400" y="4483100"/>
            <a:ext cx="20955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000" b="1" i="0">
                <a:solidFill>
                  <a:srgbClr val="FFF7F1"/>
                </a:solidFill>
                <a:latin typeface="Cambria"/>
              </a:rPr>
              <a:t>0,629</a:t>
            </a:r>
            <a:endParaRPr sz="3000" b="1" i="0">
              <a:solidFill>
                <a:srgbClr val="FFF7F1"/>
              </a:solidFill>
              <a:latin typeface="Cambria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4B475CC5-235F-C496-EA24-C04F669D6745}"/>
              </a:ext>
            </a:extLst>
          </p:cNvPr>
          <p:cNvSpPr txBox="1"/>
          <p:nvPr/>
        </p:nvSpPr>
        <p:spPr>
          <a:xfrm>
            <a:off x="9423400" y="5080000"/>
            <a:ext cx="20955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>
                <a:solidFill>
                  <a:srgbClr val="F3E6E1"/>
                </a:solidFill>
                <a:latin typeface="Calibri"/>
              </a:rPr>
              <a:t>E4 resolução por base</a:t>
            </a:r>
            <a:endParaRPr sz="1300" b="0" i="0">
              <a:solidFill>
                <a:srgbClr val="F3E6E1"/>
              </a:solidFill>
              <a:latin typeface="Calibri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8CFA6FE1-37E1-DBF4-A3E7-E033DE12E6DA}"/>
              </a:ext>
            </a:extLst>
          </p:cNvPr>
          <p:cNvSpPr txBox="1"/>
          <p:nvPr/>
        </p:nvSpPr>
        <p:spPr>
          <a:xfrm>
            <a:off x="2832100" y="4483100"/>
            <a:ext cx="20955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000" b="1" i="0">
                <a:solidFill>
                  <a:srgbClr val="FFF7F1"/>
                </a:solidFill>
                <a:latin typeface="Cambria"/>
              </a:rPr>
              <a:t>0,626</a:t>
            </a:r>
            <a:endParaRPr sz="3000" b="1" i="0">
              <a:solidFill>
                <a:srgbClr val="FFF7F1"/>
              </a:solidFill>
              <a:latin typeface="Cambria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B07A8A07-F8D7-C14D-9D4E-C44EF72C5F7A}"/>
              </a:ext>
            </a:extLst>
          </p:cNvPr>
          <p:cNvSpPr txBox="1"/>
          <p:nvPr/>
        </p:nvSpPr>
        <p:spPr>
          <a:xfrm>
            <a:off x="2832100" y="5080000"/>
            <a:ext cx="20955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>
                <a:solidFill>
                  <a:srgbClr val="F3E6E1"/>
                </a:solidFill>
                <a:latin typeface="Calibri"/>
              </a:rPr>
              <a:t>E3 federado · 400 r</a:t>
            </a:r>
            <a:endParaRPr sz="1300" b="0" i="0">
              <a:solidFill>
                <a:srgbClr val="F3E6E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2032"/>
                </a:solidFill>
                <a:latin typeface="Calibri"/>
              </a:rPr>
              <a:t>RESULTADOS DE TESTE · SEED 1993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Célula a célula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95708"/>
              </p:ext>
            </p:extLst>
          </p:nvPr>
        </p:nvGraphicFramePr>
        <p:xfrm>
          <a:off x="640080" y="178308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958339036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94222979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7F1"/>
                          </a:solidFill>
                          <a:latin typeface="Calibri"/>
                        </a:rPr>
                        <a:t>Célula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>
                          <a:solidFill>
                            <a:srgbClr val="FFF7F1"/>
                          </a:solidFill>
                          <a:latin typeface="Calibri"/>
                        </a:rPr>
                        <a:t>E3 federado · 200 r</a:t>
                      </a:r>
                      <a:endParaRPr sz="1250" b="1">
                        <a:solidFill>
                          <a:srgbClr val="FFF7F1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>
                          <a:solidFill>
                            <a:srgbClr val="FFF7F1"/>
                          </a:solidFill>
                          <a:latin typeface="Calibri"/>
                        </a:rPr>
                        <a:t>E3 federado · 400 r</a:t>
                      </a:r>
                      <a:endParaRPr sz="1250" b="1">
                        <a:solidFill>
                          <a:srgbClr val="FFF7F1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7F1"/>
                          </a:solidFill>
                          <a:latin typeface="Calibri"/>
                        </a:rPr>
                        <a:t>E3 local-only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7F1"/>
                          </a:solidFill>
                          <a:latin typeface="Calibri"/>
                        </a:rPr>
                        <a:t>E6 decoder federado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7F1"/>
                          </a:solidFill>
                          <a:latin typeface="Calibri"/>
                        </a:rPr>
                        <a:t>E7 ResNet-34</a:t>
                      </a: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>
                          <a:solidFill>
                            <a:srgbClr val="FFF7F1"/>
                          </a:solidFill>
                          <a:latin typeface="Calibri"/>
                        </a:rPr>
                        <a:t>E4 resolução · 400 r</a:t>
                      </a:r>
                      <a:endParaRPr sz="1250" b="1">
                        <a:solidFill>
                          <a:srgbClr val="FFF7F1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BUSI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0,637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0,668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0,732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0,748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0,859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0,646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BUSI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0,640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0,641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0,748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0,632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ISIC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0,386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0,419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0,351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0,390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0,575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0,435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ISIC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0,842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0,849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0,853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0,826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0,850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SIIM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0,620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0,692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0,684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0,774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0,721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SIIM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0,221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0,177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0,208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0,180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0,221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0,171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TCGA cls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0,898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0,901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0,896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0,927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0,895</a:t>
                      </a: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0,906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TCGA seg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0,655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0,666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0,634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0,722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1216"/>
                          </a:solidFill>
                          <a:latin typeface="Calibri"/>
                        </a:rPr>
                        <a:t>0,656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1E1216"/>
                          </a:solidFill>
                          <a:latin typeface="Calibri"/>
                        </a:rPr>
                        <a:t>0,672</a:t>
                      </a:r>
                      <a:endParaRPr sz="1250" b="0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1216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E1216"/>
                          </a:solidFill>
                          <a:latin typeface="Calibri"/>
                        </a:rPr>
                        <a:t>0,613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>
                          <a:solidFill>
                            <a:srgbClr val="1E1216"/>
                          </a:solidFill>
                          <a:latin typeface="Calibri"/>
                        </a:rPr>
                        <a:t>0,626</a:t>
                      </a:r>
                      <a:endParaRPr sz="1250" b="1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E1216"/>
                          </a:solidFill>
                          <a:latin typeface="Calibri"/>
                        </a:rPr>
                        <a:t>0,622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E1216"/>
                          </a:solidFill>
                          <a:latin typeface="Calibri"/>
                        </a:rPr>
                        <a:t>0,642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7B2032"/>
                          </a:solidFill>
                          <a:latin typeface="Calibri"/>
                        </a:rPr>
                        <a:t>0,700</a:t>
                      </a: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>
                          <a:solidFill>
                            <a:srgbClr val="1E1216"/>
                          </a:solidFill>
                          <a:latin typeface="Calibri"/>
                        </a:rPr>
                        <a:t>0,629</a:t>
                      </a:r>
                      <a:endParaRPr sz="1250" b="1">
                        <a:solidFill>
                          <a:srgbClr val="1E1216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881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6B5559"/>
                </a:solidFill>
                <a:latin typeface="Calibri"/>
              </a:rPr>
              <a:t>seg = Dice positivo · cls = balanced accuracy · média dos clientes de cada célula · em vinho, o maior valor da linha · E4: Dice de TCGA e SIIM a 256 px</a:t>
            </a:r>
            <a:endParaRPr sz="1100" b="0" i="0">
              <a:solidFill>
                <a:srgbClr val="6B555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11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2032"/>
                </a:solidFill>
                <a:latin typeface="Calibri"/>
              </a:rPr>
              <a:t>MÉDIA DAS 8 CÉLULAS · TESTE · SEED 1993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400" b="1" i="0">
                <a:solidFill>
                  <a:srgbClr val="1E1216"/>
                </a:solidFill>
                <a:latin typeface="Cambria"/>
              </a:rPr>
              <a:t>Com o mesmo orçamento, a E7 se destaca</a:t>
            </a:r>
            <a:endParaRPr sz="3400" b="1" i="0">
              <a:solidFill>
                <a:srgbClr val="1E1216"/>
              </a:solidFill>
              <a:latin typeface="Cambria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595001"/>
              </p:ext>
            </p:extLst>
          </p:nvPr>
        </p:nvGraphicFramePr>
        <p:xfrm>
          <a:off x="640080" y="1737360"/>
          <a:ext cx="10881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35040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>
                <a:solidFill>
                  <a:srgbClr val="6B5559"/>
                </a:solidFill>
                <a:latin typeface="Calibri"/>
              </a:rPr>
              <a:t>O controle E3 com 400 rodadas (0,626) separa o orçamento: ele explica +0,014 da média; o resto é da intervenção.</a:t>
            </a:r>
            <a:endParaRPr sz="1200" b="0" i="0">
              <a:solidFill>
                <a:srgbClr val="6B555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12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2032"/>
                </a:solidFill>
                <a:latin typeface="Calibri"/>
              </a:rPr>
              <a:t>RESSALVAS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E1216"/>
                </a:solidFill>
                <a:latin typeface="Cambria"/>
              </a:rPr>
              <a:t>Como ler estes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B2032"/>
                </a:solidFill>
                <a:latin typeface="Cambria"/>
              </a:rPr>
              <a:t>Uma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1216"/>
                </a:solidFill>
                <a:latin typeface="Calibri"/>
              </a:rPr>
              <a:t>E6, E7 e E4 rodaram só com a seed 1993. O ruído entre runs na GPU chega a ~0,05 no BUSI e ~0,01 nas demais.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 b="1" i="0">
                <a:solidFill>
                  <a:srgbClr val="7B2032"/>
                </a:solidFill>
                <a:latin typeface="Cambria"/>
              </a:rPr>
              <a:t>Orçamento separado</a:t>
            </a:r>
            <a:endParaRPr sz="1600" b="1" i="0">
              <a:solidFill>
                <a:srgbClr val="7B2032"/>
              </a:solidFill>
              <a:latin typeface="Cambr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30175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>
                <a:solidFill>
                  <a:srgbClr val="1E1216"/>
                </a:solidFill>
                <a:latin typeface="Calibri"/>
              </a:rPr>
              <a:t>O controle E3 com 400 rodadas (0,626) mede o orçamento. Contra ele: E7 +0,074, E6 +0,016, E4 +0,003.</a:t>
            </a:r>
            <a:endParaRPr sz="1300" b="0" i="0">
              <a:solidFill>
                <a:srgbClr val="1E1216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19" y="18288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19" y="2011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B2032"/>
                </a:solidFill>
                <a:latin typeface="Cambria"/>
              </a:rPr>
              <a:t>Duas mudanças na E7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5146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1216"/>
                </a:solidFill>
                <a:latin typeface="Calibri"/>
              </a:rPr>
              <a:t>A E7 troca a arquitetura e adiciona o pré-treino ao mesmo tempo.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B2032"/>
                </a:solidFill>
                <a:latin typeface="Cambria"/>
              </a:rPr>
              <a:t>Resolução na E4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1216"/>
                </a:solidFill>
                <a:latin typeface="Calibri"/>
              </a:rPr>
              <a:t>O Dice a 256 px é medido sobre outra rasterização da máscara.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977639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FFCFA"/>
          </a:solidFill>
          <a:ln w="12700">
            <a:solidFill>
              <a:srgbClr val="F3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B2032"/>
                </a:solidFill>
                <a:latin typeface="Cambria"/>
              </a:rPr>
              <a:t>Leitura descritiva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1216"/>
                </a:solidFill>
                <a:latin typeface="Calibri"/>
              </a:rPr>
              <a:t>Holdout único e sem p-valores. Nenhuma diferença aqui é uma afirmação inferencial.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5559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6B5559"/>
                </a:solidFill>
                <a:latin typeface="Calibri"/>
              </a:rPr>
              <a:t>13</a:t>
            </a:r>
            <a:endParaRPr sz="1000" b="0" i="0">
              <a:solidFill>
                <a:srgbClr val="6B55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>
                <a:solidFill>
                  <a:srgbClr val="C98A96"/>
                </a:solidFill>
                <a:latin typeface="Calibri"/>
              </a:rPr>
              <a:t>PRÓXIMOS PASSOS · ATIVIDADE 6 A FAZER</a:t>
            </a:r>
            <a:endParaRPr sz="1300" b="1" i="0">
              <a:solidFill>
                <a:srgbClr val="C98A96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7F1"/>
                </a:solidFill>
                <a:latin typeface="Cambria"/>
              </a:rPr>
              <a:t>O que falta para confirmar os ganhos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2B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C98A96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>
                <a:solidFill>
                  <a:srgbClr val="FFF7F1"/>
                </a:solidFill>
                <a:latin typeface="Cambria"/>
              </a:rPr>
              <a:t>Escrever o paper 1</a:t>
            </a:r>
            <a:endParaRPr sz="1800" b="1" i="0">
              <a:solidFill>
                <a:srgbClr val="FFF7F1"/>
              </a:solidFill>
              <a:latin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4114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>
                <a:solidFill>
                  <a:srgbClr val="F3E6E1"/>
                </a:solidFill>
                <a:latin typeface="Calibri"/>
              </a:rPr>
              <a:t>Atividade 6 (a fazer): consolidar as atividades 1 a 5 no primeiro artigo.</a:t>
            </a:r>
            <a:endParaRPr sz="1300" b="0" i="0">
              <a:solidFill>
                <a:srgbClr val="F3E6E1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2B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C98A96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031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7F1"/>
                </a:solidFill>
                <a:latin typeface="Cambria"/>
              </a:rPr>
              <a:t>Normalização na E7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5176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3E6E1"/>
                </a:solidFill>
                <a:latin typeface="Calibri"/>
              </a:rPr>
              <a:t>γ/β treináveis com estatísticas congeladas; FedBN com BN pessoal; um braço ResNet-34 sem pré-treino.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2B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C98A96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6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7F1"/>
                </a:solidFill>
                <a:latin typeface="Cambria"/>
              </a:rPr>
              <a:t>Diluição do ISIC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8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3E6E1"/>
                </a:solidFill>
                <a:latin typeface="Calibri"/>
              </a:rPr>
              <a:t>Clientes de uma tarefa só devolvem blocos do decoder que não treinaram; revisar a agregação.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2B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C98A96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206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7F1"/>
                </a:solidFill>
                <a:latin typeface="Cambria"/>
              </a:rPr>
              <a:t>Mais seeds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754880"/>
            <a:ext cx="4114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>
                <a:solidFill>
                  <a:srgbClr val="F3E6E1"/>
                </a:solidFill>
                <a:latin typeface="Calibri"/>
              </a:rPr>
              <a:t>Repetir E6, E7, E4 e o controle de 400 rodadas com 3 seeds antes de qualquer conclusão de efeito.</a:t>
            </a:r>
            <a:endParaRPr sz="1300" b="0" i="0">
              <a:solidFill>
                <a:srgbClr val="F3E6E1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98A96"/>
                </a:solidFill>
                <a:latin typeface="Calibri"/>
              </a:rPr>
              <a:t>FedPer multitarefa · progresso desde 28/09/2026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0" i="0">
                <a:solidFill>
                  <a:srgbClr val="C98A96"/>
                </a:solidFill>
                <a:latin typeface="Calibri"/>
              </a:rPr>
              <a:t>14</a:t>
            </a:r>
            <a:endParaRPr sz="1000" b="0" i="0">
              <a:solidFill>
                <a:srgbClr val="C98A96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3690</Words>
  <Application>Microsoft Office PowerPoint</Application>
  <PresentationFormat>Widescreen</PresentationFormat>
  <Paragraphs>458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Dos Santos</cp:lastModifiedBy>
  <cp:revision>6</cp:revision>
  <dcterms:created xsi:type="dcterms:W3CDTF">2013-01-27T09:14:16Z</dcterms:created>
  <dcterms:modified xsi:type="dcterms:W3CDTF">2026-10-20T09:21:05Z</dcterms:modified>
  <cp:category/>
</cp:coreProperties>
</file>